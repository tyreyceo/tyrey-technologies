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 ($M)</c:v>
                </c:pt>
              </c:strCache>
            </c:strRef>
          </c:tx>
          <c:spPr>
            <a:solidFill>
              <a:srgbClr val="C9A227"/>
            </a:solidFill>
            <a:effectLst/>
          </c:spPr>
          <c:invertIfNegative val="0"/>
          <c:dLbls>
            <c:numFmt formatCode="0.#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B1F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  <c:pt idx="3">
                    <c:v>Year 4</c:v>
                  </c:pt>
                  <c:pt idx="4">
                    <c:v>Year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</c:v>
                </c:pt>
                <c:pt idx="1">
                  <c:v>6</c:v>
                </c:pt>
                <c:pt idx="2">
                  <c:v>25</c:v>
                </c:pt>
                <c:pt idx="3">
                  <c:v>60</c:v>
                </c:pt>
                <c:pt idx="4">
                  <c:v>120</c:v>
                </c:pt>
              </c:numCache>
            </c:numRef>
          </c:val>
        </c:ser>
        <c:dLbls>
          <c:numFmt formatCode="0.#" sourceLinked="0"/>
          <c:txPr>
            <a:bodyPr/>
            <a:lstStyle/>
            <a:p>
              <a:pPr>
                <a:defRPr b="0" i="0" strike="noStrike" sz="1200" u="none">
                  <a:solidFill>
                    <a:srgbClr val="0B1F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645920"/>
            <a:ext cx="5029200" cy="5029200"/>
          </a:xfrm>
          <a:prstGeom prst="ellipse">
            <a:avLst/>
          </a:prstGeom>
          <a:solidFill>
            <a:srgbClr val="14304F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3566160"/>
            <a:ext cx="3840480" cy="3840480"/>
          </a:xfrm>
          <a:prstGeom prst="ellipse">
            <a:avLst/>
          </a:prstGeom>
          <a:solidFill>
            <a:srgbClr val="14304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515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E3C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TYREY TECHNOLOGIES, INC.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TyRey Intelligence™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6D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decision intelligence infrastructure for organizations.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31520" y="41148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3C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Intelligence Infrastructure for Modern Business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decisions are slow, fragmented, and expensive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84048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E2E7E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5819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decisions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decision-making takes weeks while markets move in days.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63440" y="1417320"/>
            <a:ext cx="384048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E2E7E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5819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advisory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92040" y="19202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 and advisory work is episodic and disconnected from execution.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834640"/>
            <a:ext cx="384048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E2E7E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29992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quality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33375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planning quality varies wildly across teams and tools.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63440" y="2834640"/>
            <a:ext cx="384048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E2E7E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92040" y="29992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 expertise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92040" y="33375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World-class strategic expertise is priced out of reach for most builders.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4370832"/>
            <a:ext cx="8046720" cy="384048"/>
          </a:xfrm>
          <a:prstGeom prst="rect">
            <a:avLst/>
          </a:prstGeom>
          <a:solidFill>
            <a:srgbClr val="0B1F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result: </a:t>
            </a:r>
            <a:pPr algn="ctr" indent="0" marL="0">
              <a:buNone/>
            </a:pPr>
            <a:r>
              <a:rPr lang="en-US" sz="1300" dirty="0">
                <a:solidFill>
                  <a:srgbClr val="C6D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decisions and lost capital efficiency across the economy.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TyRey Technologies, Inc.  ·  Confidential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229600" y="47960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AI operating system for strategic decision-making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TyRey Intelligence™ converts chaos into structure, structure into decisions, and decisions into execution.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5146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7E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2194560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21945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businesses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1920240"/>
            <a:ext cx="2514600" cy="914400"/>
          </a:xfrm>
          <a:prstGeom prst="roundRect">
            <a:avLst>
              <a:gd name="adj" fmla="val 6000"/>
            </a:avLst>
          </a:prstGeom>
          <a:solidFill>
            <a:srgbClr val="F4F0E3"/>
          </a:solidFill>
          <a:ln w="9525">
            <a:solidFill>
              <a:srgbClr val="E2E7E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93008" y="2194560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3493008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977640" y="21945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capital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35040" y="1920240"/>
            <a:ext cx="25146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7E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36208" y="2194560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6236208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720840" y="21945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acquisitions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063240"/>
            <a:ext cx="25146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7E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49808" y="3337560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34440" y="33375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markets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91840" y="3063240"/>
            <a:ext cx="25146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7E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493008" y="3337560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3" name="Text 21"/>
          <p:cNvSpPr/>
          <p:nvPr/>
        </p:nvSpPr>
        <p:spPr>
          <a:xfrm>
            <a:off x="3493008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977640" y="33375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operations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035040" y="3063240"/>
            <a:ext cx="25146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7E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36208" y="3337560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7" name="Text 25"/>
          <p:cNvSpPr/>
          <p:nvPr/>
        </p:nvSpPr>
        <p:spPr>
          <a:xfrm>
            <a:off x="6236208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720840" y="33375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strategy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4343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chatbot. Not a document generator. A structured decision platform.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4864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TyRey Technologies, Inc.  ·  Confidential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229600" y="47960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Project-based AI strategy workspaces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8404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2E7E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53619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Plan Generator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Investor-grade 10-section plans in minutes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63440" y="1417320"/>
            <a:ext cx="38404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2E7E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53619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Memo Generator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92040" y="18288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IC-ready deal memos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423160"/>
            <a:ext cx="38404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2E7E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254203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 Engine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28346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TAM/SAM/SOM with explicit math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2423160"/>
            <a:ext cx="38404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2E7E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92040" y="254203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Intelligence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28346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Diligence and deal analysis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429000"/>
            <a:ext cx="38404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2E7E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354787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Genome™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384048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10-dimension diagnostic with scored actions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3429000"/>
            <a:ext cx="38404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2E7E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92040" y="354787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Score™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92040" y="384048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trackable index of business readiness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8640" y="45262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output: decision-ready · well-organized · sourced · actionable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TyRey Technologies, Inc.  ·  Confidential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229600" y="47960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window for structured AI workflows is open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840480" cy="1234440"/>
          </a:xfrm>
          <a:prstGeom prst="roundRect">
            <a:avLst>
              <a:gd name="adj" fmla="val 4444"/>
            </a:avLst>
          </a:prstGeom>
          <a:solidFill>
            <a:srgbClr val="F4F0E3"/>
          </a:solidFill>
          <a:ln w="9525">
            <a:solidFill>
              <a:srgbClr val="E2E7E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276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reasoning is usable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77240" y="1975104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models now sustain structured, multi-step business reasoning.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63440" y="1463040"/>
            <a:ext cx="3840480" cy="1234440"/>
          </a:xfrm>
          <a:prstGeom prst="roundRect">
            <a:avLst>
              <a:gd name="adj" fmla="val 4444"/>
            </a:avLst>
          </a:prstGeom>
          <a:solidFill>
            <a:srgbClr val="F4F0E3"/>
          </a:solidFill>
          <a:ln w="9525">
            <a:solidFill>
              <a:srgbClr val="E2E7E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6276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is compounding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892040" y="1975104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face more decisions, faster, with less margin for error.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3840480" cy="1234440"/>
          </a:xfrm>
          <a:prstGeom prst="roundRect">
            <a:avLst>
              <a:gd name="adj" fmla="val 4444"/>
            </a:avLst>
          </a:prstGeom>
          <a:solidFill>
            <a:srgbClr val="F4F0E3"/>
          </a:solidFill>
          <a:ln w="9525">
            <a:solidFill>
              <a:srgbClr val="E2E7E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30906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 can't keep up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77240" y="3438144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slow and too expensive for the pace of modern business.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63440" y="2926080"/>
            <a:ext cx="3840480" cy="1234440"/>
          </a:xfrm>
          <a:prstGeom prst="roundRect">
            <a:avLst>
              <a:gd name="adj" fmla="val 4444"/>
            </a:avLst>
          </a:prstGeom>
          <a:solidFill>
            <a:srgbClr val="F4F0E3"/>
          </a:solidFill>
          <a:ln w="9525">
            <a:solidFill>
              <a:srgbClr val="E2E7E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92040" y="30906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is accelerating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892040" y="3438144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AI workflows are becoming a procurement category.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TyRey Technologies, Inc.  ·  Confidential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229600" y="47960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Subscription SaaS with an enterprise expansion path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029968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E2E7E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91640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$49</a:t>
            </a:r>
            <a:pPr indent="0" marL="0">
              <a:buNone/>
            </a:pPr>
            <a:r>
              <a:rPr lang="en-US" sz="1200" dirty="0">
                <a:solidFill>
                  <a:srgbClr val="5B6B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/month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31520" y="2697480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Founders &amp; solo builders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61488" y="1463040"/>
            <a:ext cx="2029968" cy="1965960"/>
          </a:xfrm>
          <a:prstGeom prst="roundRect">
            <a:avLst>
              <a:gd name="adj" fmla="val 2791"/>
            </a:avLst>
          </a:prstGeom>
          <a:solidFill>
            <a:srgbClr val="F4F0E3"/>
          </a:solidFill>
          <a:ln w="9525">
            <a:solidFill>
              <a:srgbClr val="E2E7E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944368" y="1691640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944368" y="2011680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$149</a:t>
            </a:r>
            <a:pPr indent="0" marL="0">
              <a:buNone/>
            </a:pPr>
            <a:r>
              <a:rPr lang="en-US" sz="1200" dirty="0">
                <a:solidFill>
                  <a:srgbClr val="5B6B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/month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944368" y="2697480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&amp; advisors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74336" y="1463040"/>
            <a:ext cx="2029968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E2E7E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157216" y="1691640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157216" y="2011680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$499</a:t>
            </a:r>
            <a:pPr indent="0" marL="0">
              <a:buNone/>
            </a:pPr>
            <a:r>
              <a:rPr lang="en-US" sz="1200" dirty="0">
                <a:solidFill>
                  <a:srgbClr val="5B6B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/month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5157216" y="2697480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Firms &amp; funds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0" y="1463040"/>
            <a:ext cx="1280160" cy="1965960"/>
          </a:xfrm>
          <a:prstGeom prst="roundRect">
            <a:avLst>
              <a:gd name="adj" fmla="val 4286"/>
            </a:avLst>
          </a:prstGeom>
          <a:solidFill>
            <a:srgbClr val="0B1F3A"/>
          </a:solidFill>
          <a:ln w="9525">
            <a:solidFill>
              <a:srgbClr val="E2E7E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52360" y="169164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3C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452360" y="205740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$25K–$250K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452360" y="265176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6D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contracts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37947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70–85% gross margin</a:t>
            </a:r>
            <a:pPr algn="ctr" indent="0" marL="0">
              <a:buNone/>
            </a:pPr>
            <a:r>
              <a:rPr lang="en-US" sz="12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inference costs controlled via structured outputs  ·  high LTV from multi-project usage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4297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funnel: $29 Starter Pack · $99 Investor Pack · $199 Founder Premium (one-time, frictionless first purchase)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TyRey Technologies, Inc.  ·  Confidential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229600" y="47960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MOAT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TyRey Moat Engine™ — what a copycat can't clone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8046720" cy="713232"/>
          </a:xfrm>
          <a:prstGeom prst="roundRect">
            <a:avLst>
              <a:gd name="adj" fmla="val 7692"/>
            </a:avLst>
          </a:prstGeom>
          <a:solidFill>
            <a:srgbClr val="F4F0E3"/>
          </a:solidFill>
          <a:ln w="9525">
            <a:solidFill>
              <a:srgbClr val="E2E7E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591056"/>
            <a:ext cx="365760" cy="36576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91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3C363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25880" y="15087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decision frameworks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480560" y="15087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Genome™, Intelligence Score™, and 9 more structured IP frameworks drive every generation.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258568"/>
            <a:ext cx="804672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E2E7E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2432304"/>
            <a:ext cx="365760" cy="36576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432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3C363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25880" y="235000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workflow intelligence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80560" y="235000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are produced by framework injection, never freeform prompting.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099816"/>
            <a:ext cx="804672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E2E7E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3273552"/>
            <a:ext cx="365760" cy="36576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273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3C363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25880" y="3191256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Compounding decision history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480560" y="319125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project enriches proprietary workflow data and benchmarks.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941064"/>
            <a:ext cx="804672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E2E7E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114800"/>
            <a:ext cx="365760" cy="36576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114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3C363"/>
                </a:solidFill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25880" y="4032504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architecture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480560" y="4032504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security and integrations built for institutional buyers.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TyRey Technologies, Inc.  ·  Confidential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229600" y="47960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 with founders, expand to institutions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560320" cy="2377440"/>
          </a:xfrm>
          <a:prstGeom prst="roundRect">
            <a:avLst>
              <a:gd name="adj" fmla="val 2308"/>
            </a:avLst>
          </a:prstGeom>
          <a:solidFill>
            <a:srgbClr val="F4F0E3"/>
          </a:solidFill>
          <a:ln w="9525">
            <a:solidFill>
              <a:srgbClr val="E2E7E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755648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49808" y="2048256"/>
            <a:ext cx="2157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Founders &amp; startups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49808" y="2743200"/>
            <a:ext cx="21579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High-intent buyers raising capital now. $29–$199 instant packs convert cold traffic; subscriptions retain them.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91840" y="1554480"/>
            <a:ext cx="256032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9525">
            <a:solidFill>
              <a:srgbClr val="E2E7E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93008" y="1755648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93008" y="2048256"/>
            <a:ext cx="2157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 &amp; investment firms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493008" y="2743200"/>
            <a:ext cx="21579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memos, diligence, and portfolio intelligence. Higher ACV, multi-seat.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35040" y="1554480"/>
            <a:ext cx="256032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9525">
            <a:solidFill>
              <a:srgbClr val="E2E7E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36208" y="1755648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36208" y="2048256"/>
            <a:ext cx="2157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Universities, governments, enterprises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236208" y="2743200"/>
            <a:ext cx="21579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development, curriculum, and enterprise strategy contracts at $25K–$250K.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4251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loop:  Traffic → Idea input → AI preview → Paid unlock → Repeat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TyRey Technologies, Inc.  ·  Confidential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229600" y="47960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 to $120M+ ARR in five years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51206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1463040"/>
            <a:ext cx="265176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9525">
            <a:solidFill>
              <a:srgbClr val="E2E7E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126480" y="153619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126480" y="17647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users · $100/mo blended · ≈ $600K ARR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943600" y="2212848"/>
            <a:ext cx="265176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9525">
            <a:solidFill>
              <a:srgbClr val="E2E7E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126480" y="228600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126480" y="2514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users · enterprise pilots begin · ≈ $6M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943600" y="2962656"/>
            <a:ext cx="265176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9525">
            <a:solidFill>
              <a:srgbClr val="E2E7E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126480" y="303580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126480" y="32644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25,000 users · enterprise expansion · ≈ $25M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943600" y="3712464"/>
            <a:ext cx="265176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9525">
            <a:solidFill>
              <a:srgbClr val="E2E7E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126480" y="378561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5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126480" y="40142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+ licensing revenue · ≈ $120M+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48640" y="461772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are explicit in the full financial model. Projections, not guarantees.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54864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TyRey Technologies, Inc.  ·  Confidential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8229600" y="47960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VISION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TyRey Intelligence is Product 1 of a platform company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5603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7E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627632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TyRey Capital™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965960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formation &amp; investor matching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91840" y="1463040"/>
            <a:ext cx="25603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7E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93008" y="1627632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TyRey Ventures™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493008" y="1965960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incubation &amp; venture studio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35040" y="1463040"/>
            <a:ext cx="25603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7E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36208" y="1627632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TyRey Analytics™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236208" y="1965960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&amp; competitive intelligence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2788920"/>
            <a:ext cx="25603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7E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9808" y="2953512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TyRey Nexus™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49808" y="3291840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enterprise knowledge management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91840" y="2788920"/>
            <a:ext cx="25603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7E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493008" y="2953512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TyRey Government™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493008" y="3291840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Public-sector strategic planning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35040" y="2788920"/>
            <a:ext cx="25603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7E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36208" y="2953512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TyRey Health™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236208" y="3291840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strategy &amp; innovation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8640" y="4297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intelligence infrastructure. Many vertical products. Shared framework IP.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TyRey Technologies, Inc.  ·  Confidential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229600" y="47960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PLAN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working MVP to enterprise pilots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325880" y="1600200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132588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874520" y="1828800"/>
            <a:ext cx="1417320" cy="0"/>
          </a:xfrm>
          <a:prstGeom prst="line">
            <a:avLst/>
          </a:prstGeom>
          <a:noFill/>
          <a:ln w="19050">
            <a:solidFill>
              <a:srgbClr val="C9A227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548640" y="2286000"/>
            <a:ext cx="192024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E2E7E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3232" y="2450592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13232" y="2724912"/>
            <a:ext cx="1591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SaaS live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13232" y="3291840"/>
            <a:ext cx="15910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platform: funnel + full workspace product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10712" y="1600200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2" name="Text 10"/>
          <p:cNvSpPr/>
          <p:nvPr/>
        </p:nvSpPr>
        <p:spPr>
          <a:xfrm>
            <a:off x="3410712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3C363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959352" y="1828800"/>
            <a:ext cx="1417320" cy="0"/>
          </a:xfrm>
          <a:prstGeom prst="line">
            <a:avLst/>
          </a:prstGeom>
          <a:noFill/>
          <a:ln w="19050">
            <a:solidFill>
              <a:srgbClr val="C9A227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2633472" y="2286000"/>
            <a:ext cx="192024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E2E7E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798064" y="2450592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90 DAYS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798064" y="2724912"/>
            <a:ext cx="1591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10–100 paying users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98064" y="3291840"/>
            <a:ext cx="15910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founder outreach + instant-pack funnel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95544" y="1600200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9" name="Text 17"/>
          <p:cNvSpPr/>
          <p:nvPr/>
        </p:nvSpPr>
        <p:spPr>
          <a:xfrm>
            <a:off x="5495544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3C363"/>
                </a:solidFill>
              </a:rPr>
              <a:t>3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044184" y="1828800"/>
            <a:ext cx="1417320" cy="0"/>
          </a:xfrm>
          <a:prstGeom prst="line">
            <a:avLst/>
          </a:prstGeom>
          <a:noFill/>
          <a:ln w="19050">
            <a:solidFill>
              <a:srgbClr val="C9A227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4718304" y="2286000"/>
            <a:ext cx="192024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E2E7E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82896" y="2450592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6–12 MONTHS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82896" y="2724912"/>
            <a:ext cx="1591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enterprise contracts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82896" y="3291840"/>
            <a:ext cx="15910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 firms, accelerators, universities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580376" y="1600200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6" name="Text 24"/>
          <p:cNvSpPr/>
          <p:nvPr/>
        </p:nvSpPr>
        <p:spPr>
          <a:xfrm>
            <a:off x="7580376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3C363"/>
                </a:solidFill>
              </a:rPr>
              <a:t>4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803136" y="2286000"/>
            <a:ext cx="192024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E2E7E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967728" y="2450592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12+ MONTHS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967728" y="2724912"/>
            <a:ext cx="1591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intelligence modules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967728" y="3291840"/>
            <a:ext cx="15910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Capital, Analytics, Government expansions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48640" y="4343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“In under 5 minutes, we generate what traditionally takes consultants weeks.”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4864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TyRey Technologies, Inc.  ·  Confidential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8229600" y="47960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3108960"/>
            <a:ext cx="4206240" cy="4206240"/>
          </a:xfrm>
          <a:prstGeom prst="ellipse">
            <a:avLst/>
          </a:prstGeom>
          <a:solidFill>
            <a:srgbClr val="14304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772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3C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Seed round: $1M–$3M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31520" y="2240280"/>
            <a:ext cx="3657600" cy="777240"/>
          </a:xfrm>
          <a:prstGeom prst="roundRect">
            <a:avLst>
              <a:gd name="adj" fmla="val 7059"/>
            </a:avLst>
          </a:prstGeom>
          <a:solidFill>
            <a:srgbClr val="14304F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2350008"/>
            <a:ext cx="3255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C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platform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2624328"/>
            <a:ext cx="3255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6D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 the SaaS core and intelligence modules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2240280"/>
            <a:ext cx="3657600" cy="777240"/>
          </a:xfrm>
          <a:prstGeom prst="roundRect">
            <a:avLst>
              <a:gd name="adj" fmla="val 7059"/>
            </a:avLst>
          </a:prstGeom>
          <a:solidFill>
            <a:srgbClr val="14304F"/>
          </a:solidFill>
          <a:ln/>
        </p:spPr>
      </p:sp>
      <p:sp>
        <p:nvSpPr>
          <p:cNvPr id="9" name="Text 7"/>
          <p:cNvSpPr/>
          <p:nvPr/>
        </p:nvSpPr>
        <p:spPr>
          <a:xfrm>
            <a:off x="4864608" y="2350008"/>
            <a:ext cx="3255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C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infrastructure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64608" y="2624328"/>
            <a:ext cx="3255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6D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Enterprise-ready security and deployment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31520" y="3200400"/>
            <a:ext cx="3657600" cy="777240"/>
          </a:xfrm>
          <a:prstGeom prst="roundRect">
            <a:avLst>
              <a:gd name="adj" fmla="val 7059"/>
            </a:avLst>
          </a:prstGeom>
          <a:solidFill>
            <a:srgbClr val="14304F"/>
          </a:solidFill>
          <a:ln/>
        </p:spPr>
      </p:sp>
      <p:sp>
        <p:nvSpPr>
          <p:cNvPr id="12" name="Text 10"/>
          <p:cNvSpPr/>
          <p:nvPr/>
        </p:nvSpPr>
        <p:spPr>
          <a:xfrm>
            <a:off x="932688" y="3310128"/>
            <a:ext cx="3255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C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 first customers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32688" y="3584448"/>
            <a:ext cx="3255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6D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the founder-funnel revenue engine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63440" y="3200400"/>
            <a:ext cx="3657600" cy="777240"/>
          </a:xfrm>
          <a:prstGeom prst="roundRect">
            <a:avLst>
              <a:gd name="adj" fmla="val 7059"/>
            </a:avLst>
          </a:prstGeom>
          <a:solidFill>
            <a:srgbClr val="14304F"/>
          </a:solidFill>
          <a:ln/>
        </p:spPr>
      </p:sp>
      <p:sp>
        <p:nvSpPr>
          <p:cNvPr id="15" name="Text 13"/>
          <p:cNvSpPr/>
          <p:nvPr/>
        </p:nvSpPr>
        <p:spPr>
          <a:xfrm>
            <a:off x="4864608" y="3310128"/>
            <a:ext cx="3255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C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pilot program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64608" y="3584448"/>
            <a:ext cx="3255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6D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the first institutional contracts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31520" y="44348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3C3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Become the operating system for business decision-making.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TyRey Intelligence — Investor Deck</dc:title>
  <dc:subject>PptxGenJS Presentation</dc:subject>
  <dc:creator>TyRey Technologies, Inc.</dc:creator>
  <cp:lastModifiedBy>TyRey Technologies, Inc.</cp:lastModifiedBy>
  <cp:revision>1</cp:revision>
  <dcterms:created xsi:type="dcterms:W3CDTF">2026-07-03T21:51:20Z</dcterms:created>
  <dcterms:modified xsi:type="dcterms:W3CDTF">2026-07-03T21:51:20Z</dcterms:modified>
</cp:coreProperties>
</file>